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8" r:id="rId3"/>
    <p:sldId id="259" r:id="rId4"/>
    <p:sldId id="262" r:id="rId5"/>
    <p:sldId id="263"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63"/>
    <p:restoredTop sz="94674"/>
  </p:normalViewPr>
  <p:slideViewPr>
    <p:cSldViewPr snapToGrid="0" snapToObjects="1">
      <p:cViewPr varScale="1">
        <p:scale>
          <a:sx n="124" d="100"/>
          <a:sy n="124" d="100"/>
        </p:scale>
        <p:origin x="85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FF7C54-4642-5645-8605-3C36B3B72A71}" type="datetimeFigureOut">
              <a:rPr lang="en-US" smtClean="0"/>
              <a:t>4/30/25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725C5E-EB23-F241-A09C-83A5F999DD57}" type="slidenum">
              <a:rPr lang="en-US" smtClean="0"/>
              <a:t>‹#›</a:t>
            </a:fld>
            <a:endParaRPr lang="en-US"/>
          </a:p>
        </p:txBody>
      </p:sp>
    </p:spTree>
    <p:extLst>
      <p:ext uri="{BB962C8B-B14F-4D97-AF65-F5344CB8AC3E}">
        <p14:creationId xmlns:p14="http://schemas.microsoft.com/office/powerpoint/2010/main" val="3280476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725C5E-EB23-F241-A09C-83A5F999DD57}" type="slidenum">
              <a:rPr lang="en-US" smtClean="0"/>
              <a:t>1</a:t>
            </a:fld>
            <a:endParaRPr lang="en-US"/>
          </a:p>
        </p:txBody>
      </p:sp>
    </p:spTree>
    <p:extLst>
      <p:ext uri="{BB962C8B-B14F-4D97-AF65-F5344CB8AC3E}">
        <p14:creationId xmlns:p14="http://schemas.microsoft.com/office/powerpoint/2010/main" val="1182713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07C3A-1E65-3445-86D8-99D05BBB048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05E2582-4BE1-4040-A929-959A1D871C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99E1277-B69F-1D4F-A43C-61B37CA4236F}"/>
              </a:ext>
            </a:extLst>
          </p:cNvPr>
          <p:cNvSpPr>
            <a:spLocks noGrp="1"/>
          </p:cNvSpPr>
          <p:nvPr>
            <p:ph type="dt" sz="half" idx="10"/>
          </p:nvPr>
        </p:nvSpPr>
        <p:spPr/>
        <p:txBody>
          <a:bodyPr/>
          <a:lstStyle/>
          <a:p>
            <a:fld id="{C8DA4BE6-913B-D047-B185-D9393F36E28C}" type="datetimeFigureOut">
              <a:rPr lang="en-US" smtClean="0"/>
              <a:t>4/30/25</a:t>
            </a:fld>
            <a:endParaRPr lang="en-US"/>
          </a:p>
        </p:txBody>
      </p:sp>
      <p:sp>
        <p:nvSpPr>
          <p:cNvPr id="5" name="Footer Placeholder 4">
            <a:extLst>
              <a:ext uri="{FF2B5EF4-FFF2-40B4-BE49-F238E27FC236}">
                <a16:creationId xmlns:a16="http://schemas.microsoft.com/office/drawing/2014/main" id="{2FFCEA14-0BE7-4240-BC33-EDA186BE3A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32B3FA-2883-0C49-83F7-81642F59558E}"/>
              </a:ext>
            </a:extLst>
          </p:cNvPr>
          <p:cNvSpPr>
            <a:spLocks noGrp="1"/>
          </p:cNvSpPr>
          <p:nvPr>
            <p:ph type="sldNum" sz="quarter" idx="12"/>
          </p:nvPr>
        </p:nvSpPr>
        <p:spPr/>
        <p:txBody>
          <a:bodyPr/>
          <a:lstStyle/>
          <a:p>
            <a:fld id="{BF8E2414-4170-9F4F-B983-DA0E18544F1A}" type="slidenum">
              <a:rPr lang="en-US" smtClean="0"/>
              <a:t>‹#›</a:t>
            </a:fld>
            <a:endParaRPr lang="en-US"/>
          </a:p>
        </p:txBody>
      </p:sp>
    </p:spTree>
    <p:extLst>
      <p:ext uri="{BB962C8B-B14F-4D97-AF65-F5344CB8AC3E}">
        <p14:creationId xmlns:p14="http://schemas.microsoft.com/office/powerpoint/2010/main" val="3749263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EB4F6-8AF8-FA4E-B3AC-5CF6E3A229B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058EA97-B081-474C-840F-6400EA2263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2F9BE40-44BB-CD44-ADB7-CC99635ADF24}"/>
              </a:ext>
            </a:extLst>
          </p:cNvPr>
          <p:cNvSpPr>
            <a:spLocks noGrp="1"/>
          </p:cNvSpPr>
          <p:nvPr>
            <p:ph type="dt" sz="half" idx="10"/>
          </p:nvPr>
        </p:nvSpPr>
        <p:spPr/>
        <p:txBody>
          <a:bodyPr/>
          <a:lstStyle/>
          <a:p>
            <a:fld id="{C8DA4BE6-913B-D047-B185-D9393F36E28C}" type="datetimeFigureOut">
              <a:rPr lang="en-US" smtClean="0"/>
              <a:t>4/30/25</a:t>
            </a:fld>
            <a:endParaRPr lang="en-US"/>
          </a:p>
        </p:txBody>
      </p:sp>
      <p:sp>
        <p:nvSpPr>
          <p:cNvPr id="5" name="Footer Placeholder 4">
            <a:extLst>
              <a:ext uri="{FF2B5EF4-FFF2-40B4-BE49-F238E27FC236}">
                <a16:creationId xmlns:a16="http://schemas.microsoft.com/office/drawing/2014/main" id="{457E5AEA-A3D8-AE46-8056-0C7A2A2F51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C5B28E-8E19-C540-B162-2410F76DB29C}"/>
              </a:ext>
            </a:extLst>
          </p:cNvPr>
          <p:cNvSpPr>
            <a:spLocks noGrp="1"/>
          </p:cNvSpPr>
          <p:nvPr>
            <p:ph type="sldNum" sz="quarter" idx="12"/>
          </p:nvPr>
        </p:nvSpPr>
        <p:spPr/>
        <p:txBody>
          <a:bodyPr/>
          <a:lstStyle/>
          <a:p>
            <a:fld id="{BF8E2414-4170-9F4F-B983-DA0E18544F1A}" type="slidenum">
              <a:rPr lang="en-US" smtClean="0"/>
              <a:t>‹#›</a:t>
            </a:fld>
            <a:endParaRPr lang="en-US"/>
          </a:p>
        </p:txBody>
      </p:sp>
    </p:spTree>
    <p:extLst>
      <p:ext uri="{BB962C8B-B14F-4D97-AF65-F5344CB8AC3E}">
        <p14:creationId xmlns:p14="http://schemas.microsoft.com/office/powerpoint/2010/main" val="1552216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53B50-183E-DE43-9765-6CF895314A9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D0D5151-D11A-A94C-991A-DE9655BAB5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5BD313E-D392-6849-A644-2B4CC7C3F589}"/>
              </a:ext>
            </a:extLst>
          </p:cNvPr>
          <p:cNvSpPr>
            <a:spLocks noGrp="1"/>
          </p:cNvSpPr>
          <p:nvPr>
            <p:ph type="dt" sz="half" idx="10"/>
          </p:nvPr>
        </p:nvSpPr>
        <p:spPr/>
        <p:txBody>
          <a:bodyPr/>
          <a:lstStyle/>
          <a:p>
            <a:fld id="{C8DA4BE6-913B-D047-B185-D9393F36E28C}" type="datetimeFigureOut">
              <a:rPr lang="en-US" smtClean="0"/>
              <a:t>4/30/25</a:t>
            </a:fld>
            <a:endParaRPr lang="en-US"/>
          </a:p>
        </p:txBody>
      </p:sp>
      <p:sp>
        <p:nvSpPr>
          <p:cNvPr id="5" name="Footer Placeholder 4">
            <a:extLst>
              <a:ext uri="{FF2B5EF4-FFF2-40B4-BE49-F238E27FC236}">
                <a16:creationId xmlns:a16="http://schemas.microsoft.com/office/drawing/2014/main" id="{BB87593D-FE9E-EC4F-BAEE-0EC4BE1BC5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C5BADF-E3A0-6E42-9072-3E3BD9BB4667}"/>
              </a:ext>
            </a:extLst>
          </p:cNvPr>
          <p:cNvSpPr>
            <a:spLocks noGrp="1"/>
          </p:cNvSpPr>
          <p:nvPr>
            <p:ph type="sldNum" sz="quarter" idx="12"/>
          </p:nvPr>
        </p:nvSpPr>
        <p:spPr/>
        <p:txBody>
          <a:bodyPr/>
          <a:lstStyle/>
          <a:p>
            <a:fld id="{BF8E2414-4170-9F4F-B983-DA0E18544F1A}" type="slidenum">
              <a:rPr lang="en-US" smtClean="0"/>
              <a:t>‹#›</a:t>
            </a:fld>
            <a:endParaRPr lang="en-US"/>
          </a:p>
        </p:txBody>
      </p:sp>
    </p:spTree>
    <p:extLst>
      <p:ext uri="{BB962C8B-B14F-4D97-AF65-F5344CB8AC3E}">
        <p14:creationId xmlns:p14="http://schemas.microsoft.com/office/powerpoint/2010/main" val="3790437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A7C2F-D25A-2945-AA51-92FD5C66C5E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0BE986C-3CBF-764C-B254-03431D13D50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0C76D04-DBB0-3C46-B5EF-C07B1E67674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3015568-DD4B-8347-9D70-27D1DD2C85D3}"/>
              </a:ext>
            </a:extLst>
          </p:cNvPr>
          <p:cNvSpPr>
            <a:spLocks noGrp="1"/>
          </p:cNvSpPr>
          <p:nvPr>
            <p:ph type="dt" sz="half" idx="10"/>
          </p:nvPr>
        </p:nvSpPr>
        <p:spPr/>
        <p:txBody>
          <a:bodyPr/>
          <a:lstStyle/>
          <a:p>
            <a:fld id="{C8DA4BE6-913B-D047-B185-D9393F36E28C}" type="datetimeFigureOut">
              <a:rPr lang="en-US" smtClean="0"/>
              <a:t>4/30/25</a:t>
            </a:fld>
            <a:endParaRPr lang="en-US"/>
          </a:p>
        </p:txBody>
      </p:sp>
      <p:sp>
        <p:nvSpPr>
          <p:cNvPr id="6" name="Footer Placeholder 5">
            <a:extLst>
              <a:ext uri="{FF2B5EF4-FFF2-40B4-BE49-F238E27FC236}">
                <a16:creationId xmlns:a16="http://schemas.microsoft.com/office/drawing/2014/main" id="{88AB3C88-45DB-F94B-B95E-C8EAACDBCD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21E9EB-EC9F-4145-9D95-448EDA4EDABF}"/>
              </a:ext>
            </a:extLst>
          </p:cNvPr>
          <p:cNvSpPr>
            <a:spLocks noGrp="1"/>
          </p:cNvSpPr>
          <p:nvPr>
            <p:ph type="sldNum" sz="quarter" idx="12"/>
          </p:nvPr>
        </p:nvSpPr>
        <p:spPr/>
        <p:txBody>
          <a:bodyPr/>
          <a:lstStyle/>
          <a:p>
            <a:fld id="{BF8E2414-4170-9F4F-B983-DA0E18544F1A}" type="slidenum">
              <a:rPr lang="en-US" smtClean="0"/>
              <a:t>‹#›</a:t>
            </a:fld>
            <a:endParaRPr lang="en-US"/>
          </a:p>
        </p:txBody>
      </p:sp>
    </p:spTree>
    <p:extLst>
      <p:ext uri="{BB962C8B-B14F-4D97-AF65-F5344CB8AC3E}">
        <p14:creationId xmlns:p14="http://schemas.microsoft.com/office/powerpoint/2010/main" val="2711305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A4280-A571-444A-8E5F-B9534C03E91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3511AB4-C4C5-B947-8363-B584F1C992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52DC67F-3438-BA47-AD4D-FFB5CD79CD6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40B2BC71-344C-DC48-80D6-EBD11548D7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6546034-4780-3B4D-8AA4-6A83EABAE2D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6AE6A24-54D2-044D-BE09-91FD882EECAA}"/>
              </a:ext>
            </a:extLst>
          </p:cNvPr>
          <p:cNvSpPr>
            <a:spLocks noGrp="1"/>
          </p:cNvSpPr>
          <p:nvPr>
            <p:ph type="dt" sz="half" idx="10"/>
          </p:nvPr>
        </p:nvSpPr>
        <p:spPr/>
        <p:txBody>
          <a:bodyPr/>
          <a:lstStyle/>
          <a:p>
            <a:fld id="{C8DA4BE6-913B-D047-B185-D9393F36E28C}" type="datetimeFigureOut">
              <a:rPr lang="en-US" smtClean="0"/>
              <a:t>4/30/25</a:t>
            </a:fld>
            <a:endParaRPr lang="en-US"/>
          </a:p>
        </p:txBody>
      </p:sp>
      <p:sp>
        <p:nvSpPr>
          <p:cNvPr id="8" name="Footer Placeholder 7">
            <a:extLst>
              <a:ext uri="{FF2B5EF4-FFF2-40B4-BE49-F238E27FC236}">
                <a16:creationId xmlns:a16="http://schemas.microsoft.com/office/drawing/2014/main" id="{E3B17539-C7D7-1E4F-A1F4-BE3F5E6876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7F18910-2C38-274A-AA5C-78008AD8A42A}"/>
              </a:ext>
            </a:extLst>
          </p:cNvPr>
          <p:cNvSpPr>
            <a:spLocks noGrp="1"/>
          </p:cNvSpPr>
          <p:nvPr>
            <p:ph type="sldNum" sz="quarter" idx="12"/>
          </p:nvPr>
        </p:nvSpPr>
        <p:spPr/>
        <p:txBody>
          <a:bodyPr/>
          <a:lstStyle/>
          <a:p>
            <a:fld id="{BF8E2414-4170-9F4F-B983-DA0E18544F1A}" type="slidenum">
              <a:rPr lang="en-US" smtClean="0"/>
              <a:t>‹#›</a:t>
            </a:fld>
            <a:endParaRPr lang="en-US"/>
          </a:p>
        </p:txBody>
      </p:sp>
    </p:spTree>
    <p:extLst>
      <p:ext uri="{BB962C8B-B14F-4D97-AF65-F5344CB8AC3E}">
        <p14:creationId xmlns:p14="http://schemas.microsoft.com/office/powerpoint/2010/main" val="2175909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901EF-F5BA-8F42-9052-8836FC35A7A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ACCDED5-B358-9247-A31B-C1DA344C920C}"/>
              </a:ext>
            </a:extLst>
          </p:cNvPr>
          <p:cNvSpPr>
            <a:spLocks noGrp="1"/>
          </p:cNvSpPr>
          <p:nvPr>
            <p:ph type="dt" sz="half" idx="10"/>
          </p:nvPr>
        </p:nvSpPr>
        <p:spPr/>
        <p:txBody>
          <a:bodyPr/>
          <a:lstStyle/>
          <a:p>
            <a:fld id="{C8DA4BE6-913B-D047-B185-D9393F36E28C}" type="datetimeFigureOut">
              <a:rPr lang="en-US" smtClean="0"/>
              <a:t>4/30/25</a:t>
            </a:fld>
            <a:endParaRPr lang="en-US"/>
          </a:p>
        </p:txBody>
      </p:sp>
      <p:sp>
        <p:nvSpPr>
          <p:cNvPr id="4" name="Footer Placeholder 3">
            <a:extLst>
              <a:ext uri="{FF2B5EF4-FFF2-40B4-BE49-F238E27FC236}">
                <a16:creationId xmlns:a16="http://schemas.microsoft.com/office/drawing/2014/main" id="{0C8099CA-241F-DC4C-B825-A14E23579D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7C7F9F-A15B-694E-9A81-39C76C628102}"/>
              </a:ext>
            </a:extLst>
          </p:cNvPr>
          <p:cNvSpPr>
            <a:spLocks noGrp="1"/>
          </p:cNvSpPr>
          <p:nvPr>
            <p:ph type="sldNum" sz="quarter" idx="12"/>
          </p:nvPr>
        </p:nvSpPr>
        <p:spPr/>
        <p:txBody>
          <a:bodyPr/>
          <a:lstStyle/>
          <a:p>
            <a:fld id="{BF8E2414-4170-9F4F-B983-DA0E18544F1A}" type="slidenum">
              <a:rPr lang="en-US" smtClean="0"/>
              <a:t>‹#›</a:t>
            </a:fld>
            <a:endParaRPr lang="en-US"/>
          </a:p>
        </p:txBody>
      </p:sp>
    </p:spTree>
    <p:extLst>
      <p:ext uri="{BB962C8B-B14F-4D97-AF65-F5344CB8AC3E}">
        <p14:creationId xmlns:p14="http://schemas.microsoft.com/office/powerpoint/2010/main" val="1772625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E3B871-6339-5249-A04A-AD757CBE55C4}"/>
              </a:ext>
            </a:extLst>
          </p:cNvPr>
          <p:cNvSpPr>
            <a:spLocks noGrp="1"/>
          </p:cNvSpPr>
          <p:nvPr>
            <p:ph type="dt" sz="half" idx="10"/>
          </p:nvPr>
        </p:nvSpPr>
        <p:spPr/>
        <p:txBody>
          <a:bodyPr/>
          <a:lstStyle/>
          <a:p>
            <a:fld id="{C8DA4BE6-913B-D047-B185-D9393F36E28C}" type="datetimeFigureOut">
              <a:rPr lang="en-US" smtClean="0"/>
              <a:t>4/30/25</a:t>
            </a:fld>
            <a:endParaRPr lang="en-US"/>
          </a:p>
        </p:txBody>
      </p:sp>
      <p:sp>
        <p:nvSpPr>
          <p:cNvPr id="3" name="Footer Placeholder 2">
            <a:extLst>
              <a:ext uri="{FF2B5EF4-FFF2-40B4-BE49-F238E27FC236}">
                <a16:creationId xmlns:a16="http://schemas.microsoft.com/office/drawing/2014/main" id="{0BB6CDF3-93DB-9449-84EE-9EF19EB34B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782CEA-315B-A344-AB0C-9C7A8AF14B22}"/>
              </a:ext>
            </a:extLst>
          </p:cNvPr>
          <p:cNvSpPr>
            <a:spLocks noGrp="1"/>
          </p:cNvSpPr>
          <p:nvPr>
            <p:ph type="sldNum" sz="quarter" idx="12"/>
          </p:nvPr>
        </p:nvSpPr>
        <p:spPr/>
        <p:txBody>
          <a:bodyPr/>
          <a:lstStyle/>
          <a:p>
            <a:fld id="{BF8E2414-4170-9F4F-B983-DA0E18544F1A}" type="slidenum">
              <a:rPr lang="en-US" smtClean="0"/>
              <a:t>‹#›</a:t>
            </a:fld>
            <a:endParaRPr lang="en-US"/>
          </a:p>
        </p:txBody>
      </p:sp>
    </p:spTree>
    <p:extLst>
      <p:ext uri="{BB962C8B-B14F-4D97-AF65-F5344CB8AC3E}">
        <p14:creationId xmlns:p14="http://schemas.microsoft.com/office/powerpoint/2010/main" val="2663322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18C55-560F-6942-9620-0086FF0515E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3DE3EBD-063E-194B-9CF8-56F55B692E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0E968D1-799E-324F-981F-BB780F92E2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D4DAA94-A34B-1D4D-BA80-3353B2063640}"/>
              </a:ext>
            </a:extLst>
          </p:cNvPr>
          <p:cNvSpPr>
            <a:spLocks noGrp="1"/>
          </p:cNvSpPr>
          <p:nvPr>
            <p:ph type="dt" sz="half" idx="10"/>
          </p:nvPr>
        </p:nvSpPr>
        <p:spPr/>
        <p:txBody>
          <a:bodyPr/>
          <a:lstStyle/>
          <a:p>
            <a:fld id="{C8DA4BE6-913B-D047-B185-D9393F36E28C}" type="datetimeFigureOut">
              <a:rPr lang="en-US" smtClean="0"/>
              <a:t>4/30/25</a:t>
            </a:fld>
            <a:endParaRPr lang="en-US"/>
          </a:p>
        </p:txBody>
      </p:sp>
      <p:sp>
        <p:nvSpPr>
          <p:cNvPr id="6" name="Footer Placeholder 5">
            <a:extLst>
              <a:ext uri="{FF2B5EF4-FFF2-40B4-BE49-F238E27FC236}">
                <a16:creationId xmlns:a16="http://schemas.microsoft.com/office/drawing/2014/main" id="{7614595B-D5D4-024A-966C-6686F62F35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7E76E1-8190-9C46-8B5A-B638B60D00C8}"/>
              </a:ext>
            </a:extLst>
          </p:cNvPr>
          <p:cNvSpPr>
            <a:spLocks noGrp="1"/>
          </p:cNvSpPr>
          <p:nvPr>
            <p:ph type="sldNum" sz="quarter" idx="12"/>
          </p:nvPr>
        </p:nvSpPr>
        <p:spPr/>
        <p:txBody>
          <a:bodyPr/>
          <a:lstStyle/>
          <a:p>
            <a:fld id="{BF8E2414-4170-9F4F-B983-DA0E18544F1A}" type="slidenum">
              <a:rPr lang="en-US" smtClean="0"/>
              <a:t>‹#›</a:t>
            </a:fld>
            <a:endParaRPr lang="en-US"/>
          </a:p>
        </p:txBody>
      </p:sp>
    </p:spTree>
    <p:extLst>
      <p:ext uri="{BB962C8B-B14F-4D97-AF65-F5344CB8AC3E}">
        <p14:creationId xmlns:p14="http://schemas.microsoft.com/office/powerpoint/2010/main" val="3800773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20FB3-831D-DC4E-8CBE-53A65F6A473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5EFB6E3E-281D-AB40-9A79-BE1EFB129B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40BF6F0-FC14-8F40-B8AF-1CCFEDEB33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A28A7D0-1562-464E-B2AD-28865B75E64A}"/>
              </a:ext>
            </a:extLst>
          </p:cNvPr>
          <p:cNvSpPr>
            <a:spLocks noGrp="1"/>
          </p:cNvSpPr>
          <p:nvPr>
            <p:ph type="dt" sz="half" idx="10"/>
          </p:nvPr>
        </p:nvSpPr>
        <p:spPr/>
        <p:txBody>
          <a:bodyPr/>
          <a:lstStyle/>
          <a:p>
            <a:fld id="{C8DA4BE6-913B-D047-B185-D9393F36E28C}" type="datetimeFigureOut">
              <a:rPr lang="en-US" smtClean="0"/>
              <a:t>4/30/25</a:t>
            </a:fld>
            <a:endParaRPr lang="en-US"/>
          </a:p>
        </p:txBody>
      </p:sp>
      <p:sp>
        <p:nvSpPr>
          <p:cNvPr id="6" name="Footer Placeholder 5">
            <a:extLst>
              <a:ext uri="{FF2B5EF4-FFF2-40B4-BE49-F238E27FC236}">
                <a16:creationId xmlns:a16="http://schemas.microsoft.com/office/drawing/2014/main" id="{E9DA8256-9D0C-704D-888B-790E29FC63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E85389-4ED3-CF4F-A569-A8DF8DEFA99C}"/>
              </a:ext>
            </a:extLst>
          </p:cNvPr>
          <p:cNvSpPr>
            <a:spLocks noGrp="1"/>
          </p:cNvSpPr>
          <p:nvPr>
            <p:ph type="sldNum" sz="quarter" idx="12"/>
          </p:nvPr>
        </p:nvSpPr>
        <p:spPr/>
        <p:txBody>
          <a:bodyPr/>
          <a:lstStyle/>
          <a:p>
            <a:fld id="{BF8E2414-4170-9F4F-B983-DA0E18544F1A}" type="slidenum">
              <a:rPr lang="en-US" smtClean="0"/>
              <a:t>‹#›</a:t>
            </a:fld>
            <a:endParaRPr lang="en-US"/>
          </a:p>
        </p:txBody>
      </p:sp>
    </p:spTree>
    <p:extLst>
      <p:ext uri="{BB962C8B-B14F-4D97-AF65-F5344CB8AC3E}">
        <p14:creationId xmlns:p14="http://schemas.microsoft.com/office/powerpoint/2010/main" val="2336009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9EB59-1AFB-B145-A1F0-6FBCAC055D0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A66E925-DEC6-7147-BC95-947B289CAC0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230A1A0-B72A-6941-8E24-9195E6AD08B0}"/>
              </a:ext>
            </a:extLst>
          </p:cNvPr>
          <p:cNvSpPr>
            <a:spLocks noGrp="1"/>
          </p:cNvSpPr>
          <p:nvPr>
            <p:ph type="dt" sz="half" idx="10"/>
          </p:nvPr>
        </p:nvSpPr>
        <p:spPr/>
        <p:txBody>
          <a:bodyPr/>
          <a:lstStyle/>
          <a:p>
            <a:fld id="{C8DA4BE6-913B-D047-B185-D9393F36E28C}" type="datetimeFigureOut">
              <a:rPr lang="en-US" smtClean="0"/>
              <a:t>4/30/25</a:t>
            </a:fld>
            <a:endParaRPr lang="en-US"/>
          </a:p>
        </p:txBody>
      </p:sp>
      <p:sp>
        <p:nvSpPr>
          <p:cNvPr id="5" name="Footer Placeholder 4">
            <a:extLst>
              <a:ext uri="{FF2B5EF4-FFF2-40B4-BE49-F238E27FC236}">
                <a16:creationId xmlns:a16="http://schemas.microsoft.com/office/drawing/2014/main" id="{D8B95633-BAC4-2549-8E6D-C02CA74680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6E4147-C9AA-0842-802C-207C041B0560}"/>
              </a:ext>
            </a:extLst>
          </p:cNvPr>
          <p:cNvSpPr>
            <a:spLocks noGrp="1"/>
          </p:cNvSpPr>
          <p:nvPr>
            <p:ph type="sldNum" sz="quarter" idx="12"/>
          </p:nvPr>
        </p:nvSpPr>
        <p:spPr/>
        <p:txBody>
          <a:bodyPr/>
          <a:lstStyle/>
          <a:p>
            <a:fld id="{BF8E2414-4170-9F4F-B983-DA0E18544F1A}" type="slidenum">
              <a:rPr lang="en-US" smtClean="0"/>
              <a:t>‹#›</a:t>
            </a:fld>
            <a:endParaRPr lang="en-US"/>
          </a:p>
        </p:txBody>
      </p:sp>
    </p:spTree>
    <p:extLst>
      <p:ext uri="{BB962C8B-B14F-4D97-AF65-F5344CB8AC3E}">
        <p14:creationId xmlns:p14="http://schemas.microsoft.com/office/powerpoint/2010/main" val="716838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185DA9-9D58-EB42-91E6-67AD6E3FD4C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595B44A-F9B7-6549-AA25-CE7D6AC90CB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2A9862C-D146-0942-BCD2-9E5D57C115DC}"/>
              </a:ext>
            </a:extLst>
          </p:cNvPr>
          <p:cNvSpPr>
            <a:spLocks noGrp="1"/>
          </p:cNvSpPr>
          <p:nvPr>
            <p:ph type="dt" sz="half" idx="10"/>
          </p:nvPr>
        </p:nvSpPr>
        <p:spPr/>
        <p:txBody>
          <a:bodyPr/>
          <a:lstStyle/>
          <a:p>
            <a:fld id="{C8DA4BE6-913B-D047-B185-D9393F36E28C}" type="datetimeFigureOut">
              <a:rPr lang="en-US" smtClean="0"/>
              <a:t>4/30/25</a:t>
            </a:fld>
            <a:endParaRPr lang="en-US"/>
          </a:p>
        </p:txBody>
      </p:sp>
      <p:sp>
        <p:nvSpPr>
          <p:cNvPr id="5" name="Footer Placeholder 4">
            <a:extLst>
              <a:ext uri="{FF2B5EF4-FFF2-40B4-BE49-F238E27FC236}">
                <a16:creationId xmlns:a16="http://schemas.microsoft.com/office/drawing/2014/main" id="{1D162150-45E8-EF4F-8729-5780A2C7A7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2A0872-EE17-1846-924A-352AEE5BDE8B}"/>
              </a:ext>
            </a:extLst>
          </p:cNvPr>
          <p:cNvSpPr>
            <a:spLocks noGrp="1"/>
          </p:cNvSpPr>
          <p:nvPr>
            <p:ph type="sldNum" sz="quarter" idx="12"/>
          </p:nvPr>
        </p:nvSpPr>
        <p:spPr/>
        <p:txBody>
          <a:bodyPr/>
          <a:lstStyle/>
          <a:p>
            <a:fld id="{BF8E2414-4170-9F4F-B983-DA0E18544F1A}" type="slidenum">
              <a:rPr lang="en-US" smtClean="0"/>
              <a:t>‹#›</a:t>
            </a:fld>
            <a:endParaRPr lang="en-US"/>
          </a:p>
        </p:txBody>
      </p:sp>
    </p:spTree>
    <p:extLst>
      <p:ext uri="{BB962C8B-B14F-4D97-AF65-F5344CB8AC3E}">
        <p14:creationId xmlns:p14="http://schemas.microsoft.com/office/powerpoint/2010/main" val="423090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694230-59CE-9647-B1F6-50293DD9E5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2D97D15-195D-6E4E-955F-D50AFADA08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67C55B9-0848-6649-B2C3-94238DE0C5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DA4BE6-913B-D047-B185-D9393F36E28C}" type="datetimeFigureOut">
              <a:rPr lang="en-US" smtClean="0"/>
              <a:t>4/30/25</a:t>
            </a:fld>
            <a:endParaRPr lang="en-US"/>
          </a:p>
        </p:txBody>
      </p:sp>
      <p:sp>
        <p:nvSpPr>
          <p:cNvPr id="5" name="Footer Placeholder 4">
            <a:extLst>
              <a:ext uri="{FF2B5EF4-FFF2-40B4-BE49-F238E27FC236}">
                <a16:creationId xmlns:a16="http://schemas.microsoft.com/office/drawing/2014/main" id="{F7005BD1-AFFD-1F4A-BF86-DDE28DCB61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6D962E8-0EE3-3147-AC6E-36DB1554F1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8E2414-4170-9F4F-B983-DA0E18544F1A}" type="slidenum">
              <a:rPr lang="en-US" smtClean="0"/>
              <a:t>‹#›</a:t>
            </a:fld>
            <a:endParaRPr lang="en-US"/>
          </a:p>
        </p:txBody>
      </p:sp>
    </p:spTree>
    <p:extLst>
      <p:ext uri="{BB962C8B-B14F-4D97-AF65-F5344CB8AC3E}">
        <p14:creationId xmlns:p14="http://schemas.microsoft.com/office/powerpoint/2010/main" val="2125469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D751C-21F9-D449-B1CB-EA73D511D5EE}"/>
              </a:ext>
            </a:extLst>
          </p:cNvPr>
          <p:cNvSpPr>
            <a:spLocks noGrp="1"/>
          </p:cNvSpPr>
          <p:nvPr>
            <p:ph type="ctrTitle"/>
          </p:nvPr>
        </p:nvSpPr>
        <p:spPr>
          <a:xfrm>
            <a:off x="1523999" y="986230"/>
            <a:ext cx="9144000" cy="953017"/>
          </a:xfrm>
        </p:spPr>
        <p:txBody>
          <a:bodyPr>
            <a:normAutofit/>
          </a:bodyPr>
          <a:lstStyle/>
          <a:p>
            <a:r>
              <a:rPr lang="en-US" sz="3600" dirty="0">
                <a:latin typeface="Times New Roman" panose="02020603050405020304" pitchFamily="18" charset="0"/>
                <a:cs typeface="Times New Roman" panose="02020603050405020304" pitchFamily="18" charset="0"/>
              </a:rPr>
              <a:t>CS514L-Artificial Intelligence</a:t>
            </a:r>
          </a:p>
        </p:txBody>
      </p:sp>
      <p:sp>
        <p:nvSpPr>
          <p:cNvPr id="3" name="Subtitle 2">
            <a:extLst>
              <a:ext uri="{FF2B5EF4-FFF2-40B4-BE49-F238E27FC236}">
                <a16:creationId xmlns:a16="http://schemas.microsoft.com/office/drawing/2014/main" id="{8877D114-AE01-0A4C-A548-72C295EB37F0}"/>
              </a:ext>
            </a:extLst>
          </p:cNvPr>
          <p:cNvSpPr>
            <a:spLocks noGrp="1"/>
          </p:cNvSpPr>
          <p:nvPr>
            <p:ph type="subTitle" idx="1"/>
          </p:nvPr>
        </p:nvSpPr>
        <p:spPr>
          <a:xfrm>
            <a:off x="1658523" y="2178121"/>
            <a:ext cx="9144000" cy="1590797"/>
          </a:xfrm>
        </p:spPr>
        <p:txBody>
          <a:bodyPr>
            <a:normAutofit/>
          </a:bodyPr>
          <a:lstStyle/>
          <a:p>
            <a:r>
              <a:rPr lang="en-IN" sz="4400" b="1" dirty="0">
                <a:solidFill>
                  <a:srgbClr val="000000"/>
                </a:solidFill>
                <a:effectLst/>
                <a:latin typeface="Times New Roman" panose="02020603050405020304" pitchFamily="18" charset="0"/>
                <a:cs typeface="Times New Roman" panose="02020603050405020304" pitchFamily="18" charset="0"/>
              </a:rPr>
              <a:t>Assignment 3 </a:t>
            </a:r>
          </a:p>
          <a:p>
            <a:r>
              <a:rPr lang="en-IN" sz="4000" b="1" dirty="0">
                <a:solidFill>
                  <a:srgbClr val="000000"/>
                </a:solidFill>
                <a:effectLst/>
                <a:latin typeface="Georgia" panose="02040502050405020303" pitchFamily="18" charset="0"/>
              </a:rPr>
              <a:t>Game Playing</a:t>
            </a:r>
            <a:endParaRPr lang="en-IN" sz="4000" dirty="0">
              <a:solidFill>
                <a:srgbClr val="000000"/>
              </a:solidFill>
              <a:effectLst/>
              <a:latin typeface="Georgia" panose="02040502050405020303" pitchFamily="18" charset="0"/>
            </a:endParaRPr>
          </a:p>
        </p:txBody>
      </p:sp>
      <p:sp>
        <p:nvSpPr>
          <p:cNvPr id="5" name="TextBox 4">
            <a:extLst>
              <a:ext uri="{FF2B5EF4-FFF2-40B4-BE49-F238E27FC236}">
                <a16:creationId xmlns:a16="http://schemas.microsoft.com/office/drawing/2014/main" id="{C7C0A066-83DC-1641-B8D0-18921DD777FC}"/>
              </a:ext>
            </a:extLst>
          </p:cNvPr>
          <p:cNvSpPr txBox="1"/>
          <p:nvPr/>
        </p:nvSpPr>
        <p:spPr>
          <a:xfrm>
            <a:off x="3610543" y="4007792"/>
            <a:ext cx="4970913" cy="2123658"/>
          </a:xfrm>
          <a:prstGeom prst="rect">
            <a:avLst/>
          </a:prstGeom>
          <a:noFill/>
        </p:spPr>
        <p:txBody>
          <a:bodyPr wrap="none" rtlCol="0">
            <a:spAutoFit/>
          </a:bodyPr>
          <a:lstStyle/>
          <a:p>
            <a:pPr>
              <a:lnSpc>
                <a:spcPct val="150000"/>
              </a:lnSpc>
            </a:pPr>
            <a:r>
              <a:rPr lang="en-IN" sz="2400" b="1" dirty="0">
                <a:effectLst/>
                <a:latin typeface="Times New Roman" panose="02020603050405020304" pitchFamily="18" charset="0"/>
                <a:cs typeface="Times New Roman" panose="02020603050405020304" pitchFamily="18" charset="0"/>
              </a:rPr>
              <a:t>Team Members</a:t>
            </a:r>
            <a:endParaRPr lang="en-IN" sz="2400" b="0" dirty="0">
              <a:effectLst/>
              <a:latin typeface="Times New Roman" panose="02020603050405020304" pitchFamily="18" charset="0"/>
              <a:cs typeface="Times New Roman" panose="02020603050405020304" pitchFamily="18" charset="0"/>
            </a:endParaRPr>
          </a:p>
          <a:p>
            <a:pPr>
              <a:lnSpc>
                <a:spcPct val="150000"/>
              </a:lnSpc>
            </a:pPr>
            <a:r>
              <a:rPr lang="en-IN" sz="2400" b="0" dirty="0">
                <a:effectLst/>
                <a:latin typeface="Times New Roman" panose="02020603050405020304" pitchFamily="18" charset="0"/>
                <a:cs typeface="Times New Roman" panose="02020603050405020304" pitchFamily="18" charset="0"/>
              </a:rPr>
              <a:t>CS25S002 - J ARJUN ANNAMALAI </a:t>
            </a:r>
          </a:p>
          <a:p>
            <a:pPr>
              <a:lnSpc>
                <a:spcPct val="150000"/>
              </a:lnSpc>
            </a:pPr>
            <a:r>
              <a:rPr lang="en-IN" sz="2400" b="0" dirty="0">
                <a:effectLst/>
                <a:latin typeface="Times New Roman" panose="02020603050405020304" pitchFamily="18" charset="0"/>
                <a:cs typeface="Times New Roman" panose="02020603050405020304" pitchFamily="18" charset="0"/>
              </a:rPr>
              <a:t>CS24M106 - LOGESH .V</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4474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CE7FB1D-8962-8348-9C8B-A8743B68C99D}"/>
              </a:ext>
            </a:extLst>
          </p:cNvPr>
          <p:cNvSpPr txBox="1">
            <a:spLocks/>
          </p:cNvSpPr>
          <p:nvPr/>
        </p:nvSpPr>
        <p:spPr>
          <a:xfrm>
            <a:off x="838200" y="365126"/>
            <a:ext cx="10515600" cy="103954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dirty="0">
                <a:effectLst/>
                <a:latin typeface="Georgia" panose="02040502050405020303" pitchFamily="18" charset="0"/>
              </a:rPr>
              <a:t>Minimax Algorithm</a:t>
            </a:r>
          </a:p>
        </p:txBody>
      </p:sp>
      <p:sp>
        <p:nvSpPr>
          <p:cNvPr id="13" name="Content Placeholder 2">
            <a:extLst>
              <a:ext uri="{FF2B5EF4-FFF2-40B4-BE49-F238E27FC236}">
                <a16:creationId xmlns:a16="http://schemas.microsoft.com/office/drawing/2014/main" id="{6F276998-8DD1-1D49-B83F-B0E5ACBEB539}"/>
              </a:ext>
            </a:extLst>
          </p:cNvPr>
          <p:cNvSpPr txBox="1">
            <a:spLocks/>
          </p:cNvSpPr>
          <p:nvPr/>
        </p:nvSpPr>
        <p:spPr>
          <a:xfrm>
            <a:off x="723252" y="1492135"/>
            <a:ext cx="6540577" cy="500073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IN" sz="1400" b="0" dirty="0">
                <a:effectLst/>
                <a:latin typeface="Times New Roman" panose="02020603050405020304" pitchFamily="18" charset="0"/>
                <a:cs typeface="Times New Roman" panose="02020603050405020304" pitchFamily="18" charset="0"/>
              </a:rPr>
              <a:t>The Minimax algorithm is a decision-making algorithm for determining the best move in a two-player game like chess. It works by:</a:t>
            </a:r>
          </a:p>
          <a:p>
            <a:pPr marL="0" indent="0" algn="just">
              <a:lnSpc>
                <a:spcPct val="150000"/>
              </a:lnSpc>
              <a:buNone/>
            </a:pPr>
            <a:r>
              <a:rPr lang="en-IN" sz="1400" b="0" dirty="0">
                <a:effectLst/>
                <a:latin typeface="Times New Roman" panose="02020603050405020304" pitchFamily="18" charset="0"/>
                <a:cs typeface="Times New Roman" panose="02020603050405020304" pitchFamily="18" charset="0"/>
              </a:rPr>
              <a:t>1. Recursively exploring all possible moves up to a certain depth</a:t>
            </a:r>
          </a:p>
          <a:p>
            <a:pPr marL="0" indent="0" algn="just">
              <a:lnSpc>
                <a:spcPct val="150000"/>
              </a:lnSpc>
              <a:buNone/>
            </a:pPr>
            <a:r>
              <a:rPr lang="en-IN" sz="1400" b="0" dirty="0">
                <a:effectLst/>
                <a:latin typeface="Times New Roman" panose="02020603050405020304" pitchFamily="18" charset="0"/>
                <a:cs typeface="Times New Roman" panose="02020603050405020304" pitchFamily="18" charset="0"/>
              </a:rPr>
              <a:t>2. Evaluating positions at the leaves of the search tree</a:t>
            </a:r>
          </a:p>
          <a:p>
            <a:pPr marL="0" indent="0" algn="just">
              <a:lnSpc>
                <a:spcPct val="150000"/>
              </a:lnSpc>
              <a:buNone/>
            </a:pPr>
            <a:r>
              <a:rPr lang="en-IN" sz="1400" b="0" dirty="0">
                <a:effectLst/>
                <a:latin typeface="Times New Roman" panose="02020603050405020304" pitchFamily="18" charset="0"/>
                <a:cs typeface="Times New Roman" panose="02020603050405020304" pitchFamily="18" charset="0"/>
              </a:rPr>
              <a:t>3. Propagating values back up the tree, with the maximizing player choosing maximum values and the minimizing player choosing minimum values</a:t>
            </a:r>
          </a:p>
          <a:p>
            <a:pPr marL="0" indent="0">
              <a:lnSpc>
                <a:spcPct val="150000"/>
              </a:lnSpc>
              <a:buNone/>
            </a:pPr>
            <a:r>
              <a:rPr lang="en-IN" sz="1400" b="1" dirty="0">
                <a:effectLst/>
                <a:latin typeface="Times New Roman" panose="02020603050405020304" pitchFamily="18" charset="0"/>
                <a:cs typeface="Times New Roman" panose="02020603050405020304" pitchFamily="18" charset="0"/>
              </a:rPr>
              <a:t>Algorithm Characteristics</a:t>
            </a:r>
            <a:r>
              <a:rPr lang="en-IN" sz="1400" b="0" dirty="0">
                <a:effectLst/>
                <a:latin typeface="Times New Roman" panose="02020603050405020304" pitchFamily="18" charset="0"/>
                <a:cs typeface="Times New Roman" panose="02020603050405020304" pitchFamily="18" charset="0"/>
              </a:rPr>
              <a:t>:</a:t>
            </a:r>
          </a:p>
          <a:p>
            <a:pPr>
              <a:lnSpc>
                <a:spcPct val="150000"/>
              </a:lnSpc>
            </a:pPr>
            <a:r>
              <a:rPr lang="en-IN" sz="1400" b="1" dirty="0">
                <a:effectLst/>
                <a:latin typeface="Times New Roman" panose="02020603050405020304" pitchFamily="18" charset="0"/>
                <a:cs typeface="Times New Roman" panose="02020603050405020304" pitchFamily="18" charset="0"/>
              </a:rPr>
              <a:t>Complete</a:t>
            </a:r>
            <a:r>
              <a:rPr lang="en-IN" sz="1400" b="0" dirty="0">
                <a:effectLst/>
                <a:latin typeface="Times New Roman" panose="02020603050405020304" pitchFamily="18" charset="0"/>
                <a:cs typeface="Times New Roman" panose="02020603050405020304" pitchFamily="18" charset="0"/>
              </a:rPr>
              <a:t>: Guarantees finding the optimal solution within the search depth</a:t>
            </a:r>
          </a:p>
          <a:p>
            <a:pPr>
              <a:lnSpc>
                <a:spcPct val="150000"/>
              </a:lnSpc>
            </a:pPr>
            <a:r>
              <a:rPr lang="en-IN" sz="1400" b="1" dirty="0">
                <a:effectLst/>
                <a:latin typeface="Times New Roman" panose="02020603050405020304" pitchFamily="18" charset="0"/>
                <a:cs typeface="Times New Roman" panose="02020603050405020304" pitchFamily="18" charset="0"/>
              </a:rPr>
              <a:t>Exponential Complexity</a:t>
            </a:r>
            <a:r>
              <a:rPr lang="en-IN" sz="1400" b="0" dirty="0">
                <a:effectLst/>
                <a:latin typeface="Times New Roman" panose="02020603050405020304" pitchFamily="18" charset="0"/>
                <a:cs typeface="Times New Roman" panose="02020603050405020304" pitchFamily="18" charset="0"/>
              </a:rPr>
              <a:t>: O(</a:t>
            </a:r>
            <a:r>
              <a:rPr lang="en-IN" sz="1400" b="0" dirty="0" err="1">
                <a:effectLst/>
                <a:latin typeface="Times New Roman" panose="02020603050405020304" pitchFamily="18" charset="0"/>
                <a:cs typeface="Times New Roman" panose="02020603050405020304" pitchFamily="18" charset="0"/>
              </a:rPr>
              <a:t>b^d</a:t>
            </a:r>
            <a:r>
              <a:rPr lang="en-IN" sz="1400" b="0" dirty="0">
                <a:effectLst/>
                <a:latin typeface="Times New Roman" panose="02020603050405020304" pitchFamily="18" charset="0"/>
                <a:cs typeface="Times New Roman" panose="02020603050405020304" pitchFamily="18" charset="0"/>
              </a:rPr>
              <a:t>) where b is branching factor (~35 in chess) and d is depth</a:t>
            </a:r>
          </a:p>
          <a:p>
            <a:pPr>
              <a:lnSpc>
                <a:spcPct val="150000"/>
              </a:lnSpc>
            </a:pPr>
            <a:r>
              <a:rPr lang="en-IN" sz="1400" b="1" dirty="0">
                <a:effectLst/>
                <a:latin typeface="Times New Roman" panose="02020603050405020304" pitchFamily="18" charset="0"/>
                <a:cs typeface="Times New Roman" panose="02020603050405020304" pitchFamily="18" charset="0"/>
              </a:rPr>
              <a:t>Memory Usage</a:t>
            </a:r>
            <a:r>
              <a:rPr lang="en-IN" sz="1400" b="0" dirty="0">
                <a:effectLst/>
                <a:latin typeface="Times New Roman" panose="02020603050405020304" pitchFamily="18" charset="0"/>
                <a:cs typeface="Times New Roman" panose="02020603050405020304" pitchFamily="18" charset="0"/>
              </a:rPr>
              <a:t>: O(bd) for storing the recursion stack</a:t>
            </a:r>
          </a:p>
          <a:p>
            <a:pPr>
              <a:lnSpc>
                <a:spcPct val="150000"/>
              </a:lnSpc>
            </a:pPr>
            <a:r>
              <a:rPr lang="en-IN" sz="1400" b="1" dirty="0">
                <a:effectLst/>
                <a:latin typeface="Times New Roman" panose="02020603050405020304" pitchFamily="18" charset="0"/>
                <a:cs typeface="Times New Roman" panose="02020603050405020304" pitchFamily="18" charset="0"/>
              </a:rPr>
              <a:t>Decision Quality</a:t>
            </a:r>
            <a:r>
              <a:rPr lang="en-IN" sz="1400" b="0" dirty="0">
                <a:effectLst/>
                <a:latin typeface="Times New Roman" panose="02020603050405020304" pitchFamily="18" charset="0"/>
                <a:cs typeface="Times New Roman" panose="02020603050405020304" pitchFamily="18" charset="0"/>
              </a:rPr>
              <a:t>: Directly proportional to search depth</a:t>
            </a:r>
          </a:p>
          <a:p>
            <a:pPr>
              <a:lnSpc>
                <a:spcPct val="150000"/>
              </a:lnSpc>
            </a:pPr>
            <a:r>
              <a:rPr lang="en-IN" sz="1400" b="1" dirty="0">
                <a:effectLst/>
                <a:latin typeface="Times New Roman" panose="02020603050405020304" pitchFamily="18" charset="0"/>
                <a:cs typeface="Times New Roman" panose="02020603050405020304" pitchFamily="18" charset="0"/>
              </a:rPr>
              <a:t>Predictable</a:t>
            </a:r>
            <a:r>
              <a:rPr lang="en-IN" sz="1400" b="0" dirty="0">
                <a:effectLst/>
                <a:latin typeface="Times New Roman" panose="02020603050405020304" pitchFamily="18" charset="0"/>
                <a:cs typeface="Times New Roman" panose="02020603050405020304" pitchFamily="18" charset="0"/>
              </a:rPr>
              <a:t>: Always chooses the same move in identical positions</a:t>
            </a:r>
          </a:p>
          <a:p>
            <a:endParaRPr lang="en-US" sz="11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1600" b="0" dirty="0">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4D8D801-F607-034C-AEFF-C1EAAA60C174}"/>
              </a:ext>
            </a:extLst>
          </p:cNvPr>
          <p:cNvPicPr>
            <a:picLocks noChangeAspect="1"/>
          </p:cNvPicPr>
          <p:nvPr/>
        </p:nvPicPr>
        <p:blipFill>
          <a:blip r:embed="rId2"/>
          <a:stretch>
            <a:fillRect/>
          </a:stretch>
        </p:blipFill>
        <p:spPr>
          <a:xfrm>
            <a:off x="7410456" y="1654630"/>
            <a:ext cx="4058292" cy="4058292"/>
          </a:xfrm>
          <a:prstGeom prst="rect">
            <a:avLst/>
          </a:prstGeom>
        </p:spPr>
      </p:pic>
    </p:spTree>
    <p:extLst>
      <p:ext uri="{BB962C8B-B14F-4D97-AF65-F5344CB8AC3E}">
        <p14:creationId xmlns:p14="http://schemas.microsoft.com/office/powerpoint/2010/main" val="2721007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5F4249A-4F5B-9948-B638-B560545700AC}"/>
              </a:ext>
            </a:extLst>
          </p:cNvPr>
          <p:cNvSpPr txBox="1">
            <a:spLocks/>
          </p:cNvSpPr>
          <p:nvPr/>
        </p:nvSpPr>
        <p:spPr>
          <a:xfrm>
            <a:off x="838200" y="365126"/>
            <a:ext cx="10515600" cy="103954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l-GR" dirty="0" err="1">
                <a:effectLst/>
                <a:latin typeface="Georgia" panose="02040502050405020303" pitchFamily="18" charset="0"/>
              </a:rPr>
              <a:t>αβ</a:t>
            </a:r>
            <a:r>
              <a:rPr lang="el-GR" dirty="0">
                <a:effectLst/>
                <a:latin typeface="Georgia" panose="02040502050405020303" pitchFamily="18" charset="0"/>
              </a:rPr>
              <a:t>-</a:t>
            </a:r>
            <a:r>
              <a:rPr lang="en-IN" dirty="0">
                <a:effectLst/>
                <a:latin typeface="Georgia" panose="02040502050405020303" pitchFamily="18" charset="0"/>
              </a:rPr>
              <a:t>pruning Algorithm</a:t>
            </a:r>
          </a:p>
        </p:txBody>
      </p:sp>
      <p:sp>
        <p:nvSpPr>
          <p:cNvPr id="9" name="Content Placeholder 2">
            <a:extLst>
              <a:ext uri="{FF2B5EF4-FFF2-40B4-BE49-F238E27FC236}">
                <a16:creationId xmlns:a16="http://schemas.microsoft.com/office/drawing/2014/main" id="{2C978D65-397B-7C4D-AFB7-D3591B6FDF0F}"/>
              </a:ext>
            </a:extLst>
          </p:cNvPr>
          <p:cNvSpPr txBox="1">
            <a:spLocks/>
          </p:cNvSpPr>
          <p:nvPr/>
        </p:nvSpPr>
        <p:spPr>
          <a:xfrm>
            <a:off x="838200" y="1401500"/>
            <a:ext cx="6336354" cy="52121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IN" sz="1400" b="0" dirty="0">
                <a:effectLst/>
                <a:latin typeface="Times New Roman" panose="02020603050405020304" pitchFamily="18" charset="0"/>
                <a:cs typeface="Times New Roman" panose="02020603050405020304" pitchFamily="18" charset="0"/>
              </a:rPr>
              <a:t>Alpha-Beta Pruning is an optimization technique for the Minimax algorithm that significantly reduces the number of nodes that need to be evaluated in the search tree. It maintains two values, alpha and beta, which represent the minimum score that the maximizing player is assured of and the maximum score that the minimizing player is assured of, respectively. If at any point during the search, alpha becomes greater than or equal to beta, the remainder of that branch can be pruned (ignored).</a:t>
            </a:r>
          </a:p>
          <a:p>
            <a:pPr marL="0" indent="0">
              <a:lnSpc>
                <a:spcPct val="150000"/>
              </a:lnSpc>
              <a:buNone/>
            </a:pPr>
            <a:r>
              <a:rPr lang="en-IN" sz="1400" b="1" dirty="0">
                <a:effectLst/>
                <a:latin typeface="Times New Roman" panose="02020603050405020304" pitchFamily="18" charset="0"/>
                <a:cs typeface="Times New Roman" panose="02020603050405020304" pitchFamily="18" charset="0"/>
              </a:rPr>
              <a:t>Algorithm Characteristics:</a:t>
            </a:r>
            <a:r>
              <a:rPr lang="en-IN" sz="1400" b="0" dirty="0">
                <a:effectLst/>
                <a:latin typeface="Times New Roman" panose="02020603050405020304" pitchFamily="18" charset="0"/>
                <a:cs typeface="Times New Roman" panose="02020603050405020304" pitchFamily="18" charset="0"/>
              </a:rPr>
              <a:t> </a:t>
            </a:r>
          </a:p>
          <a:p>
            <a:pPr>
              <a:lnSpc>
                <a:spcPct val="150000"/>
              </a:lnSpc>
            </a:pPr>
            <a:r>
              <a:rPr lang="en-IN" sz="1400" b="1" dirty="0">
                <a:effectLst/>
                <a:latin typeface="Times New Roman" panose="02020603050405020304" pitchFamily="18" charset="0"/>
                <a:cs typeface="Times New Roman" panose="02020603050405020304" pitchFamily="18" charset="0"/>
              </a:rPr>
              <a:t>Same Completeness</a:t>
            </a:r>
            <a:r>
              <a:rPr lang="en-IN" sz="1400" b="0" dirty="0">
                <a:effectLst/>
                <a:latin typeface="Times New Roman" panose="02020603050405020304" pitchFamily="18" charset="0"/>
                <a:cs typeface="Times New Roman" panose="02020603050405020304" pitchFamily="18" charset="0"/>
              </a:rPr>
              <a:t>: Produces identical decisions to Minimax</a:t>
            </a:r>
          </a:p>
          <a:p>
            <a:pPr>
              <a:lnSpc>
                <a:spcPct val="150000"/>
              </a:lnSpc>
            </a:pPr>
            <a:r>
              <a:rPr lang="en-IN" sz="1400" b="1" dirty="0">
                <a:effectLst/>
                <a:latin typeface="Times New Roman" panose="02020603050405020304" pitchFamily="18" charset="0"/>
                <a:cs typeface="Times New Roman" panose="02020603050405020304" pitchFamily="18" charset="0"/>
              </a:rPr>
              <a:t>Improved Efficiency</a:t>
            </a:r>
            <a:r>
              <a:rPr lang="en-IN" sz="1400" b="0" dirty="0">
                <a:effectLst/>
                <a:latin typeface="Times New Roman" panose="02020603050405020304" pitchFamily="18" charset="0"/>
                <a:cs typeface="Times New Roman" panose="02020603050405020304" pitchFamily="18" charset="0"/>
              </a:rPr>
              <a:t>: Best case: O(b^(d/2)) - equivalent to doubling search depth</a:t>
            </a:r>
          </a:p>
          <a:p>
            <a:pPr>
              <a:lnSpc>
                <a:spcPct val="150000"/>
              </a:lnSpc>
            </a:pPr>
            <a:r>
              <a:rPr lang="en-IN" sz="1400" b="1" dirty="0">
                <a:effectLst/>
                <a:latin typeface="Times New Roman" panose="02020603050405020304" pitchFamily="18" charset="0"/>
                <a:cs typeface="Times New Roman" panose="02020603050405020304" pitchFamily="18" charset="0"/>
              </a:rPr>
              <a:t>Variable Performance</a:t>
            </a:r>
            <a:r>
              <a:rPr lang="en-IN" sz="1400" b="0" dirty="0">
                <a:effectLst/>
                <a:latin typeface="Times New Roman" panose="02020603050405020304" pitchFamily="18" charset="0"/>
                <a:cs typeface="Times New Roman" panose="02020603050405020304" pitchFamily="18" charset="0"/>
              </a:rPr>
              <a:t>: Efficiency depends on move ordering</a:t>
            </a:r>
          </a:p>
          <a:p>
            <a:pPr>
              <a:lnSpc>
                <a:spcPct val="150000"/>
              </a:lnSpc>
            </a:pPr>
            <a:r>
              <a:rPr lang="en-IN" sz="1400" b="1" dirty="0">
                <a:effectLst/>
                <a:latin typeface="Times New Roman" panose="02020603050405020304" pitchFamily="18" charset="0"/>
                <a:cs typeface="Times New Roman" panose="02020603050405020304" pitchFamily="18" charset="0"/>
              </a:rPr>
              <a:t>Earlier </a:t>
            </a:r>
            <a:r>
              <a:rPr lang="en-IN" sz="1400" b="1" dirty="0" err="1">
                <a:effectLst/>
                <a:latin typeface="Times New Roman" panose="02020603050405020304" pitchFamily="18" charset="0"/>
                <a:cs typeface="Times New Roman" panose="02020603050405020304" pitchFamily="18" charset="0"/>
              </a:rPr>
              <a:t>Cutoffs</a:t>
            </a:r>
            <a:r>
              <a:rPr lang="en-IN" sz="1400" b="1" dirty="0">
                <a:effectLst/>
                <a:latin typeface="Times New Roman" panose="02020603050405020304" pitchFamily="18" charset="0"/>
                <a:cs typeface="Times New Roman" panose="02020603050405020304" pitchFamily="18" charset="0"/>
              </a:rPr>
              <a:t>:</a:t>
            </a:r>
            <a:r>
              <a:rPr lang="en-IN" sz="1400" b="0" dirty="0">
                <a:effectLst/>
                <a:latin typeface="Times New Roman" panose="02020603050405020304" pitchFamily="18" charset="0"/>
                <a:cs typeface="Times New Roman" panose="02020603050405020304" pitchFamily="18" charset="0"/>
              </a:rPr>
              <a:t> Better with good move ordering heuristics</a:t>
            </a:r>
          </a:p>
          <a:p>
            <a:pPr>
              <a:lnSpc>
                <a:spcPct val="150000"/>
              </a:lnSpc>
            </a:pPr>
            <a:r>
              <a:rPr lang="en-IN" sz="1400" b="1" dirty="0">
                <a:effectLst/>
                <a:latin typeface="Times New Roman" panose="02020603050405020304" pitchFamily="18" charset="0"/>
                <a:cs typeface="Times New Roman" panose="02020603050405020304" pitchFamily="18" charset="0"/>
              </a:rPr>
              <a:t>Same Memory Requirements</a:t>
            </a:r>
            <a:r>
              <a:rPr lang="en-IN" sz="1400" b="0" dirty="0">
                <a:effectLst/>
                <a:latin typeface="Times New Roman" panose="02020603050405020304" pitchFamily="18" charset="0"/>
                <a:cs typeface="Times New Roman" panose="02020603050405020304" pitchFamily="18" charset="0"/>
              </a:rPr>
              <a:t>: O(bd) - no additional memory overhead compared to Minimax</a:t>
            </a:r>
          </a:p>
          <a:p>
            <a:pPr marL="0" indent="0">
              <a:lnSpc>
                <a:spcPct val="150000"/>
              </a:lnSpc>
              <a:buNone/>
            </a:pPr>
            <a:endParaRPr lang="en-IN" sz="1400" b="0" dirty="0">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6A8EBBB-F3DF-164C-A418-C46B81FC246A}"/>
              </a:ext>
            </a:extLst>
          </p:cNvPr>
          <p:cNvPicPr>
            <a:picLocks noChangeAspect="1"/>
          </p:cNvPicPr>
          <p:nvPr/>
        </p:nvPicPr>
        <p:blipFill>
          <a:blip r:embed="rId2"/>
          <a:stretch>
            <a:fillRect/>
          </a:stretch>
        </p:blipFill>
        <p:spPr>
          <a:xfrm>
            <a:off x="7444854" y="1808252"/>
            <a:ext cx="4240055" cy="4240055"/>
          </a:xfrm>
          <a:prstGeom prst="rect">
            <a:avLst/>
          </a:prstGeom>
        </p:spPr>
      </p:pic>
    </p:spTree>
    <p:extLst>
      <p:ext uri="{BB962C8B-B14F-4D97-AF65-F5344CB8AC3E}">
        <p14:creationId xmlns:p14="http://schemas.microsoft.com/office/powerpoint/2010/main" val="1117832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5F4249A-4F5B-9948-B638-B560545700AC}"/>
              </a:ext>
            </a:extLst>
          </p:cNvPr>
          <p:cNvSpPr txBox="1">
            <a:spLocks/>
          </p:cNvSpPr>
          <p:nvPr/>
        </p:nvSpPr>
        <p:spPr>
          <a:xfrm>
            <a:off x="838200" y="365126"/>
            <a:ext cx="10515600" cy="103954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latin typeface="Georgia" panose="02040502050405020303" pitchFamily="18" charset="0"/>
              </a:rPr>
              <a:t>E</a:t>
            </a:r>
            <a:r>
              <a:rPr lang="en-IN" b="1" dirty="0">
                <a:effectLst/>
                <a:latin typeface="Georgia" panose="02040502050405020303" pitchFamily="18" charset="0"/>
              </a:rPr>
              <a:t>valuation function</a:t>
            </a:r>
            <a:endParaRPr lang="en-IN" b="0" dirty="0">
              <a:effectLst/>
              <a:latin typeface="Georgia" panose="02040502050405020303" pitchFamily="18" charset="0"/>
            </a:endParaRPr>
          </a:p>
        </p:txBody>
      </p:sp>
      <p:sp>
        <p:nvSpPr>
          <p:cNvPr id="9" name="Content Placeholder 2">
            <a:extLst>
              <a:ext uri="{FF2B5EF4-FFF2-40B4-BE49-F238E27FC236}">
                <a16:creationId xmlns:a16="http://schemas.microsoft.com/office/drawing/2014/main" id="{2C978D65-397B-7C4D-AFB7-D3591B6FDF0F}"/>
              </a:ext>
            </a:extLst>
          </p:cNvPr>
          <p:cNvSpPr txBox="1">
            <a:spLocks/>
          </p:cNvSpPr>
          <p:nvPr/>
        </p:nvSpPr>
        <p:spPr>
          <a:xfrm>
            <a:off x="838200" y="1250559"/>
            <a:ext cx="10515600" cy="499612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70000"/>
              </a:lnSpc>
              <a:buNone/>
            </a:pPr>
            <a:r>
              <a:rPr lang="en-IN" sz="1600" b="1" i="0" dirty="0">
                <a:effectLst/>
                <a:latin typeface="Times New Roman" panose="02020603050405020304" pitchFamily="18" charset="0"/>
                <a:cs typeface="Times New Roman" panose="02020603050405020304" pitchFamily="18" charset="0"/>
              </a:rPr>
              <a:t>Material-based evaluation:</a:t>
            </a:r>
          </a:p>
          <a:p>
            <a:pPr marL="457200" lvl="1" indent="0">
              <a:lnSpc>
                <a:spcPct val="170000"/>
              </a:lnSpc>
              <a:buNone/>
            </a:pPr>
            <a:r>
              <a:rPr lang="en-IN" sz="1600" b="0" i="0" dirty="0">
                <a:effectLst/>
                <a:latin typeface="Times New Roman" panose="02020603050405020304" pitchFamily="18" charset="0"/>
                <a:cs typeface="Times New Roman" panose="02020603050405020304" pitchFamily="18" charset="0"/>
              </a:rPr>
              <a:t>Pawn = 1 point, Knight = 3 points, Bishop = 3 points, Rook = 5 points, Queen = 9 points, King = 0 points</a:t>
            </a:r>
            <a:endParaRPr lang="en-IN" sz="1600" dirty="0">
              <a:latin typeface="Times New Roman" panose="02020603050405020304" pitchFamily="18" charset="0"/>
              <a:cs typeface="Times New Roman" panose="02020603050405020304" pitchFamily="18" charset="0"/>
            </a:endParaRPr>
          </a:p>
          <a:p>
            <a:pPr marL="0" indent="0">
              <a:lnSpc>
                <a:spcPct val="170000"/>
              </a:lnSpc>
              <a:buNone/>
            </a:pPr>
            <a:r>
              <a:rPr lang="en-IN" sz="1600" b="1" i="0" dirty="0">
                <a:effectLst/>
                <a:latin typeface="Times New Roman" panose="02020603050405020304" pitchFamily="18" charset="0"/>
                <a:cs typeface="Times New Roman" panose="02020603050405020304" pitchFamily="18" charset="0"/>
              </a:rPr>
              <a:t>Working Mechanism:</a:t>
            </a:r>
            <a:endParaRPr lang="en-IN" sz="1600" b="0" i="0" dirty="0">
              <a:effectLst/>
              <a:latin typeface="Times New Roman" panose="02020603050405020304" pitchFamily="18" charset="0"/>
              <a:cs typeface="Times New Roman" panose="02020603050405020304" pitchFamily="18" charset="0"/>
            </a:endParaRPr>
          </a:p>
          <a:p>
            <a:pPr lvl="1">
              <a:lnSpc>
                <a:spcPct val="170000"/>
              </a:lnSpc>
            </a:pPr>
            <a:r>
              <a:rPr lang="en-IN" sz="1600" b="0" i="0" dirty="0">
                <a:effectLst/>
                <a:latin typeface="Times New Roman" panose="02020603050405020304" pitchFamily="18" charset="0"/>
                <a:cs typeface="Times New Roman" panose="02020603050405020304" pitchFamily="18" charset="0"/>
              </a:rPr>
              <a:t>Iterates through all 64 squares on the board</a:t>
            </a:r>
          </a:p>
          <a:p>
            <a:pPr lvl="1">
              <a:lnSpc>
                <a:spcPct val="170000"/>
              </a:lnSpc>
            </a:pPr>
            <a:r>
              <a:rPr lang="en-IN" sz="1600" b="0" i="0" dirty="0">
                <a:effectLst/>
                <a:latin typeface="Times New Roman" panose="02020603050405020304" pitchFamily="18" charset="0"/>
                <a:cs typeface="Times New Roman" panose="02020603050405020304" pitchFamily="18" charset="0"/>
              </a:rPr>
              <a:t>Identifies pieces and their types</a:t>
            </a:r>
          </a:p>
          <a:p>
            <a:pPr lvl="1">
              <a:lnSpc>
                <a:spcPct val="170000"/>
              </a:lnSpc>
            </a:pPr>
            <a:r>
              <a:rPr lang="en-IN" sz="1600" b="0" i="0" dirty="0">
                <a:effectLst/>
                <a:latin typeface="Times New Roman" panose="02020603050405020304" pitchFamily="18" charset="0"/>
                <a:cs typeface="Times New Roman" panose="02020603050405020304" pitchFamily="18" charset="0"/>
              </a:rPr>
              <a:t>Adds value for White pieces and subtracts for Black pieces</a:t>
            </a:r>
          </a:p>
          <a:p>
            <a:pPr lvl="1">
              <a:lnSpc>
                <a:spcPct val="170000"/>
              </a:lnSpc>
            </a:pPr>
            <a:r>
              <a:rPr lang="en-IN" sz="1600" b="0" i="0" dirty="0">
                <a:effectLst/>
                <a:latin typeface="Times New Roman" panose="02020603050405020304" pitchFamily="18" charset="0"/>
                <a:cs typeface="Times New Roman" panose="02020603050405020304" pitchFamily="18" charset="0"/>
              </a:rPr>
              <a:t>Returns a score representing White's advantage/disadvantage</a:t>
            </a:r>
          </a:p>
          <a:p>
            <a:pPr marL="0" indent="0">
              <a:lnSpc>
                <a:spcPct val="170000"/>
              </a:lnSpc>
              <a:buNone/>
            </a:pPr>
            <a:r>
              <a:rPr lang="en-IN" sz="1600" b="1" i="0" dirty="0">
                <a:effectLst/>
                <a:latin typeface="Times New Roman" panose="02020603050405020304" pitchFamily="18" charset="0"/>
                <a:cs typeface="Times New Roman" panose="02020603050405020304" pitchFamily="18" charset="0"/>
              </a:rPr>
              <a:t>Strengths and Limitations</a:t>
            </a:r>
            <a:endParaRPr lang="en-IN" sz="1600" b="0" i="0" dirty="0">
              <a:effectLst/>
              <a:latin typeface="Times New Roman" panose="02020603050405020304" pitchFamily="18" charset="0"/>
              <a:cs typeface="Times New Roman" panose="02020603050405020304" pitchFamily="18" charset="0"/>
            </a:endParaRPr>
          </a:p>
          <a:p>
            <a:pPr marL="457200" lvl="1" indent="0">
              <a:lnSpc>
                <a:spcPct val="170000"/>
              </a:lnSpc>
              <a:buNone/>
            </a:pPr>
            <a:r>
              <a:rPr lang="en-IN" sz="1600" b="1" i="0" dirty="0">
                <a:effectLst/>
                <a:latin typeface="Times New Roman" panose="02020603050405020304" pitchFamily="18" charset="0"/>
                <a:cs typeface="Times New Roman" panose="02020603050405020304" pitchFamily="18" charset="0"/>
              </a:rPr>
              <a:t>Strengths:</a:t>
            </a:r>
            <a:r>
              <a:rPr lang="en-IN" sz="1600" b="0" i="0" dirty="0">
                <a:effectLst/>
                <a:latin typeface="Times New Roman" panose="02020603050405020304" pitchFamily="18" charset="0"/>
                <a:cs typeface="Times New Roman" panose="02020603050405020304" pitchFamily="18" charset="0"/>
              </a:rPr>
              <a:t> Simple, computationally efficient, based on established chess theory</a:t>
            </a:r>
          </a:p>
          <a:p>
            <a:pPr marL="457200" lvl="1" indent="0">
              <a:lnSpc>
                <a:spcPct val="170000"/>
              </a:lnSpc>
              <a:buNone/>
            </a:pPr>
            <a:r>
              <a:rPr lang="en-IN" sz="1600" b="1" i="0" dirty="0">
                <a:effectLst/>
                <a:latin typeface="Times New Roman" panose="02020603050405020304" pitchFamily="18" charset="0"/>
                <a:cs typeface="Times New Roman" panose="02020603050405020304" pitchFamily="18" charset="0"/>
              </a:rPr>
              <a:t>Limitations:</a:t>
            </a:r>
            <a:r>
              <a:rPr lang="en-IN" sz="1600" b="0" i="0" dirty="0">
                <a:effectLst/>
                <a:latin typeface="Times New Roman" panose="02020603050405020304" pitchFamily="18" charset="0"/>
                <a:cs typeface="Times New Roman" panose="02020603050405020304" pitchFamily="18" charset="0"/>
              </a:rPr>
              <a:t> Doesn't consider positional factors, king safety, or tactical patterns</a:t>
            </a:r>
          </a:p>
          <a:p>
            <a:pPr marL="457200" lvl="1" indent="0">
              <a:lnSpc>
                <a:spcPct val="170000"/>
              </a:lnSpc>
              <a:buNone/>
            </a:pPr>
            <a:endParaRPr lang="en-IN" sz="16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705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5F4249A-4F5B-9948-B638-B560545700AC}"/>
              </a:ext>
            </a:extLst>
          </p:cNvPr>
          <p:cNvSpPr txBox="1">
            <a:spLocks/>
          </p:cNvSpPr>
          <p:nvPr/>
        </p:nvSpPr>
        <p:spPr>
          <a:xfrm>
            <a:off x="838200" y="365126"/>
            <a:ext cx="10515600" cy="103954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effectLst/>
                <a:latin typeface="Georgia" panose="02040502050405020303" pitchFamily="18" charset="0"/>
              </a:rPr>
              <a:t>Performance Metrics</a:t>
            </a:r>
          </a:p>
        </p:txBody>
      </p:sp>
      <p:sp>
        <p:nvSpPr>
          <p:cNvPr id="9" name="Content Placeholder 2">
            <a:extLst>
              <a:ext uri="{FF2B5EF4-FFF2-40B4-BE49-F238E27FC236}">
                <a16:creationId xmlns:a16="http://schemas.microsoft.com/office/drawing/2014/main" id="{2C978D65-397B-7C4D-AFB7-D3591B6FDF0F}"/>
              </a:ext>
            </a:extLst>
          </p:cNvPr>
          <p:cNvSpPr txBox="1">
            <a:spLocks/>
          </p:cNvSpPr>
          <p:nvPr/>
        </p:nvSpPr>
        <p:spPr>
          <a:xfrm>
            <a:off x="1318516" y="3992520"/>
            <a:ext cx="9949665" cy="2294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600" b="0" dirty="0">
                <a:effectLst/>
                <a:latin typeface="Menlo" panose="020B0609030804020204" pitchFamily="49" charset="0"/>
              </a:rPr>
              <a:t>| Metric | Alpha-Beta (d=3) | Minimax (d=2) | Improvement |</a:t>
            </a:r>
          </a:p>
          <a:p>
            <a:pPr marL="0" indent="0">
              <a:buNone/>
            </a:pPr>
            <a:r>
              <a:rPr lang="en-IN" sz="1600" b="0" dirty="0">
                <a:effectLst/>
                <a:latin typeface="Menlo" panose="020B0609030804020204" pitchFamily="49" charset="0"/>
              </a:rPr>
              <a:t>|--------|-----------------|--------------|-------------|</a:t>
            </a:r>
          </a:p>
          <a:p>
            <a:pPr marL="0" indent="0">
              <a:buNone/>
            </a:pPr>
            <a:r>
              <a:rPr lang="en-IN" sz="1600" b="0" dirty="0">
                <a:effectLst/>
                <a:latin typeface="Menlo" panose="020B0609030804020204" pitchFamily="49" charset="0"/>
              </a:rPr>
              <a:t>| Moves to completion | 63 | 179 | 64.8% fewer moves |</a:t>
            </a:r>
          </a:p>
          <a:p>
            <a:pPr marL="0" indent="0">
              <a:buNone/>
            </a:pPr>
            <a:r>
              <a:rPr lang="en-IN" sz="1600" b="0" dirty="0">
                <a:effectLst/>
                <a:latin typeface="Menlo" panose="020B0609030804020204" pitchFamily="49" charset="0"/>
              </a:rPr>
              <a:t>| Runtime (seconds) | 31.95 | 45.84 | 30.3% faster |</a:t>
            </a:r>
          </a:p>
          <a:p>
            <a:pPr marL="0" indent="0">
              <a:buNone/>
            </a:pPr>
            <a:r>
              <a:rPr lang="en-IN" sz="1600" b="0" dirty="0">
                <a:effectLst/>
                <a:latin typeface="Menlo" panose="020B0609030804020204" pitchFamily="49" charset="0"/>
              </a:rPr>
              <a:t>| Result quality | Checkmate (win) | Stalemate (draw) | Superior outcome |</a:t>
            </a:r>
          </a:p>
          <a:p>
            <a:pPr marL="0" indent="0">
              <a:buNone/>
            </a:pPr>
            <a:r>
              <a:rPr lang="en-IN" sz="1600" b="0" dirty="0">
                <a:effectLst/>
                <a:latin typeface="Menlo" panose="020B0609030804020204" pitchFamily="49" charset="0"/>
              </a:rPr>
              <a:t>| Avg. time per move (sec) | 0.51 | 0.26 | Deeper search despite only 2x time |</a:t>
            </a:r>
            <a:br>
              <a:rPr lang="en-IN" sz="1600" b="0" dirty="0">
                <a:effectLst/>
                <a:latin typeface="Menlo" panose="020B0609030804020204" pitchFamily="49" charset="0"/>
              </a:rPr>
            </a:br>
            <a:endParaRPr lang="en-IN" sz="1600" b="0" dirty="0">
              <a:effectLst/>
              <a:latin typeface="Menlo" panose="020B0609030804020204" pitchFamily="49" charset="0"/>
            </a:endParaRPr>
          </a:p>
        </p:txBody>
      </p:sp>
      <p:graphicFrame>
        <p:nvGraphicFramePr>
          <p:cNvPr id="3" name="Table 3">
            <a:extLst>
              <a:ext uri="{FF2B5EF4-FFF2-40B4-BE49-F238E27FC236}">
                <a16:creationId xmlns:a16="http://schemas.microsoft.com/office/drawing/2014/main" id="{F0AC9936-BA0A-B840-96E3-32B5D3785C53}"/>
              </a:ext>
            </a:extLst>
          </p:cNvPr>
          <p:cNvGraphicFramePr>
            <a:graphicFrameLocks noGrp="1"/>
          </p:cNvGraphicFramePr>
          <p:nvPr>
            <p:extLst>
              <p:ext uri="{D42A27DB-BD31-4B8C-83A1-F6EECF244321}">
                <p14:modId xmlns:p14="http://schemas.microsoft.com/office/powerpoint/2010/main" val="3361562492"/>
              </p:ext>
            </p:extLst>
          </p:nvPr>
        </p:nvGraphicFramePr>
        <p:xfrm>
          <a:off x="1318516" y="1404672"/>
          <a:ext cx="10120902" cy="2517775"/>
        </p:xfrm>
        <a:graphic>
          <a:graphicData uri="http://schemas.openxmlformats.org/drawingml/2006/table">
            <a:tbl>
              <a:tblPr firstRow="1" bandRow="1">
                <a:tableStyleId>{2D5ABB26-0587-4C30-8999-92F81FD0307C}</a:tableStyleId>
              </a:tblPr>
              <a:tblGrid>
                <a:gridCol w="5060451">
                  <a:extLst>
                    <a:ext uri="{9D8B030D-6E8A-4147-A177-3AD203B41FA5}">
                      <a16:colId xmlns:a16="http://schemas.microsoft.com/office/drawing/2014/main" val="1224936196"/>
                    </a:ext>
                  </a:extLst>
                </a:gridCol>
                <a:gridCol w="5060451">
                  <a:extLst>
                    <a:ext uri="{9D8B030D-6E8A-4147-A177-3AD203B41FA5}">
                      <a16:colId xmlns:a16="http://schemas.microsoft.com/office/drawing/2014/main" val="447540893"/>
                    </a:ext>
                  </a:extLst>
                </a:gridCol>
              </a:tblGrid>
              <a:tr h="2294026">
                <a:tc>
                  <a:txBody>
                    <a:bodyPr/>
                    <a:lstStyle/>
                    <a:p>
                      <a:pPr marL="0" indent="0">
                        <a:lnSpc>
                          <a:spcPct val="150000"/>
                        </a:lnSpc>
                        <a:buNone/>
                      </a:pPr>
                      <a:r>
                        <a:rPr lang="en-IN" sz="1800" b="1" dirty="0">
                          <a:effectLst/>
                          <a:latin typeface="Times New Roman" panose="02020603050405020304" pitchFamily="18" charset="0"/>
                          <a:cs typeface="Times New Roman" panose="02020603050405020304" pitchFamily="18" charset="0"/>
                        </a:rPr>
                        <a:t>Alpha-Beta Pruning (Depth 3)</a:t>
                      </a:r>
                      <a:endParaRPr lang="en-IN" sz="1800" b="0" dirty="0">
                        <a:effectLst/>
                        <a:latin typeface="Times New Roman" panose="02020603050405020304" pitchFamily="18" charset="0"/>
                        <a:cs typeface="Times New Roman" panose="02020603050405020304" pitchFamily="18" charset="0"/>
                      </a:endParaRPr>
                    </a:p>
                    <a:p>
                      <a:pPr marL="0" indent="0">
                        <a:lnSpc>
                          <a:spcPct val="150000"/>
                        </a:lnSpc>
                        <a:buNone/>
                      </a:pPr>
                      <a:r>
                        <a:rPr lang="en-IN" sz="1800" b="0" dirty="0">
                          <a:effectLst/>
                          <a:latin typeface="Times New Roman" panose="02020603050405020304" pitchFamily="18" charset="0"/>
                          <a:cs typeface="Times New Roman" panose="02020603050405020304" pitchFamily="18" charset="0"/>
                        </a:rPr>
                        <a:t>- Achieves checkmate in 63 moves</a:t>
                      </a:r>
                    </a:p>
                    <a:p>
                      <a:pPr marL="0" indent="0">
                        <a:lnSpc>
                          <a:spcPct val="150000"/>
                        </a:lnSpc>
                        <a:buNone/>
                      </a:pPr>
                      <a:r>
                        <a:rPr lang="en-IN" sz="1800" b="0" dirty="0">
                          <a:effectLst/>
                          <a:latin typeface="Times New Roman" panose="02020603050405020304" pitchFamily="18" charset="0"/>
                          <a:cs typeface="Times New Roman" panose="02020603050405020304" pitchFamily="18" charset="0"/>
                        </a:rPr>
                        <a:t>- Makes more aggressive attacking moves</a:t>
                      </a:r>
                    </a:p>
                    <a:p>
                      <a:pPr marL="0" indent="0">
                        <a:lnSpc>
                          <a:spcPct val="150000"/>
                        </a:lnSpc>
                        <a:buNone/>
                      </a:pPr>
                      <a:r>
                        <a:rPr lang="en-IN" sz="1800" b="0" dirty="0">
                          <a:effectLst/>
                          <a:latin typeface="Times New Roman" panose="02020603050405020304" pitchFamily="18" charset="0"/>
                          <a:cs typeface="Times New Roman" panose="02020603050405020304" pitchFamily="18" charset="0"/>
                        </a:rPr>
                        <a:t>- Prioritizes controlling the </a:t>
                      </a:r>
                      <a:r>
                        <a:rPr lang="en-IN" sz="1800" b="0" dirty="0" err="1">
                          <a:effectLst/>
                          <a:latin typeface="Times New Roman" panose="02020603050405020304" pitchFamily="18" charset="0"/>
                          <a:cs typeface="Times New Roman" panose="02020603050405020304" pitchFamily="18" charset="0"/>
                        </a:rPr>
                        <a:t>center</a:t>
                      </a:r>
                      <a:r>
                        <a:rPr lang="en-IN" sz="1800" b="0" dirty="0">
                          <a:effectLst/>
                          <a:latin typeface="Times New Roman" panose="02020603050405020304" pitchFamily="18" charset="0"/>
                          <a:cs typeface="Times New Roman" panose="02020603050405020304" pitchFamily="18" charset="0"/>
                        </a:rPr>
                        <a:t> of the board</a:t>
                      </a:r>
                    </a:p>
                    <a:p>
                      <a:pPr marL="0" indent="0">
                        <a:lnSpc>
                          <a:spcPct val="150000"/>
                        </a:lnSpc>
                        <a:buNone/>
                      </a:pPr>
                      <a:r>
                        <a:rPr lang="en-IN" sz="1800" b="0" dirty="0">
                          <a:effectLst/>
                          <a:latin typeface="Times New Roman" panose="02020603050405020304" pitchFamily="18" charset="0"/>
                          <a:cs typeface="Times New Roman" panose="02020603050405020304" pitchFamily="18" charset="0"/>
                        </a:rPr>
                        <a:t>- Shows evidence of multi-move tactics</a:t>
                      </a:r>
                    </a:p>
                    <a:p>
                      <a:pPr>
                        <a:lnSpc>
                          <a:spcPct val="150000"/>
                        </a:lnSpc>
                      </a:pPr>
                      <a:endParaRPr lang="en-US" dirty="0"/>
                    </a:p>
                  </a:txBody>
                  <a:tcPr/>
                </a:tc>
                <a:tc>
                  <a:txBody>
                    <a:bodyPr/>
                    <a:lstStyle/>
                    <a:p>
                      <a:pPr marL="0" indent="0">
                        <a:lnSpc>
                          <a:spcPct val="150000"/>
                        </a:lnSpc>
                        <a:buNone/>
                      </a:pPr>
                      <a:r>
                        <a:rPr lang="en-IN" sz="1800" b="1" dirty="0">
                          <a:effectLst/>
                          <a:latin typeface="Times New Roman" panose="02020603050405020304" pitchFamily="18" charset="0"/>
                          <a:cs typeface="Times New Roman" panose="02020603050405020304" pitchFamily="18" charset="0"/>
                        </a:rPr>
                        <a:t>Minimax (Depth 2)</a:t>
                      </a:r>
                      <a:endParaRPr lang="en-IN" sz="1800" b="0" dirty="0">
                        <a:effectLst/>
                        <a:latin typeface="Times New Roman" panose="02020603050405020304" pitchFamily="18" charset="0"/>
                        <a:cs typeface="Times New Roman" panose="02020603050405020304" pitchFamily="18" charset="0"/>
                      </a:endParaRPr>
                    </a:p>
                    <a:p>
                      <a:pPr marL="0" indent="0">
                        <a:lnSpc>
                          <a:spcPct val="150000"/>
                        </a:lnSpc>
                        <a:buNone/>
                      </a:pPr>
                      <a:r>
                        <a:rPr lang="en-IN" sz="1800" b="0" dirty="0">
                          <a:effectLst/>
                          <a:latin typeface="Times New Roman" panose="02020603050405020304" pitchFamily="18" charset="0"/>
                          <a:cs typeface="Times New Roman" panose="02020603050405020304" pitchFamily="18" charset="0"/>
                        </a:rPr>
                        <a:t>- Reaches stalemate after 179 moves</a:t>
                      </a:r>
                    </a:p>
                    <a:p>
                      <a:pPr marL="0" indent="0">
                        <a:lnSpc>
                          <a:spcPct val="150000"/>
                        </a:lnSpc>
                        <a:buNone/>
                      </a:pPr>
                      <a:r>
                        <a:rPr lang="en-IN" sz="1800" b="0" dirty="0">
                          <a:effectLst/>
                          <a:latin typeface="Times New Roman" panose="02020603050405020304" pitchFamily="18" charset="0"/>
                          <a:cs typeface="Times New Roman" panose="02020603050405020304" pitchFamily="18" charset="0"/>
                        </a:rPr>
                        <a:t>- Makes more defensive and reactive moves</a:t>
                      </a:r>
                    </a:p>
                    <a:p>
                      <a:pPr marL="0" indent="0">
                        <a:lnSpc>
                          <a:spcPct val="150000"/>
                        </a:lnSpc>
                        <a:buNone/>
                      </a:pPr>
                      <a:r>
                        <a:rPr lang="en-IN" sz="1800" b="0" dirty="0">
                          <a:effectLst/>
                          <a:latin typeface="Times New Roman" panose="02020603050405020304" pitchFamily="18" charset="0"/>
                          <a:cs typeface="Times New Roman" panose="02020603050405020304" pitchFamily="18" charset="0"/>
                        </a:rPr>
                        <a:t>- Less structured pawn formation</a:t>
                      </a:r>
                    </a:p>
                    <a:p>
                      <a:pPr marL="0" indent="0">
                        <a:lnSpc>
                          <a:spcPct val="150000"/>
                        </a:lnSpc>
                        <a:buNone/>
                      </a:pPr>
                      <a:r>
                        <a:rPr lang="en-IN" sz="1800" b="0" dirty="0">
                          <a:effectLst/>
                          <a:latin typeface="Times New Roman" panose="02020603050405020304" pitchFamily="18" charset="0"/>
                          <a:cs typeface="Times New Roman" panose="02020603050405020304" pitchFamily="18" charset="0"/>
                        </a:rPr>
                        <a:t>- Primarily focused on immediate material gains</a:t>
                      </a:r>
                    </a:p>
                    <a:p>
                      <a:pPr>
                        <a:lnSpc>
                          <a:spcPct val="150000"/>
                        </a:lnSpc>
                      </a:pPr>
                      <a:endParaRPr lang="en-US" dirty="0"/>
                    </a:p>
                  </a:txBody>
                  <a:tcPr/>
                </a:tc>
                <a:extLst>
                  <a:ext uri="{0D108BD9-81ED-4DB2-BD59-A6C34878D82A}">
                    <a16:rowId xmlns:a16="http://schemas.microsoft.com/office/drawing/2014/main" val="1161339258"/>
                  </a:ext>
                </a:extLst>
              </a:tr>
            </a:tbl>
          </a:graphicData>
        </a:graphic>
      </p:graphicFrame>
    </p:spTree>
    <p:extLst>
      <p:ext uri="{BB962C8B-B14F-4D97-AF65-F5344CB8AC3E}">
        <p14:creationId xmlns:p14="http://schemas.microsoft.com/office/powerpoint/2010/main" val="20494782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TotalTime>
  <Words>561</Words>
  <Application>Microsoft Macintosh PowerPoint</Application>
  <PresentationFormat>Widescreen</PresentationFormat>
  <Paragraphs>54</Paragraphs>
  <Slides>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Calibri</vt:lpstr>
      <vt:lpstr>Calibri Light</vt:lpstr>
      <vt:lpstr>Georgia</vt:lpstr>
      <vt:lpstr>Menlo</vt:lpstr>
      <vt:lpstr>Times New Roman</vt:lpstr>
      <vt:lpstr>Office Theme</vt:lpstr>
      <vt:lpstr>CS514L-Artificial Intelligence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5</cp:revision>
  <dcterms:created xsi:type="dcterms:W3CDTF">2025-04-06T13:53:43Z</dcterms:created>
  <dcterms:modified xsi:type="dcterms:W3CDTF">2025-04-30T08:41:11Z</dcterms:modified>
</cp:coreProperties>
</file>